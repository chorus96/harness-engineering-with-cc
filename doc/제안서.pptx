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제목 슬라이드. 핵심 명제: 모델이 아니라 하네스가 결과를 결정한다. 파일럿: IEEE1500 HBM PMBIST 컨트롤러.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As-Is 문제: 역량이 아니라 구조가 병목. 전문성이 파일로 고정되지 않음.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3요소: 에이전트/스킬/오케스트레이터 + references. 하네스는 툴 대체가 아니라 오케스트레이션.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에이전트 8종. 설계·검증 opus, 구현·실행 sonnet 티어링. 검증자 무수정 가드레일.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6패턴 매핑. ex-11 리뷰팀=팬아웃/팬인, ex-08-15=생성검증, ex-13-01=의존성 배치 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8단계 파이프라인. 리뷰·모니터링 신설. 사람 사인오프는 불변.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비용: 1회성 저작 + 운영 토큰. EDA/컴퓨팅은 기존 자산. 수치는 예시임을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효과: 정량 KPI 방향(측정 프레임, 목표치 파일럿 확정) + 정성 효과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역할 재배치. 스튜어드 신설. 동시 활성 3~5명.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로드맵 5단계. 파일럿 12주 후 KPI 충족 시 확산.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파일럿 IP: IEEE1500 HBM PMBIST + AXI4-Lite. CDC가 핵심 리스크. doc/ip/에 골격 제공.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결론 + 다음 단계: doc/ip 골격으로 파일럿 착수.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640080"/>
            <a:ext cx="256032" cy="256032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640080"/>
            <a:ext cx="256032" cy="256032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0" y="640080"/>
            <a:ext cx="256032" cy="256032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0" y="1280160"/>
            <a:ext cx="256032" cy="256032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0" y="1280160"/>
            <a:ext cx="256032" cy="256032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0" y="1280160"/>
            <a:ext cx="256032" cy="256032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파일럿 제안서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24028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AMD FPGA 대상 RTL 개발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하네스 구축 제안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14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3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모델이 아니라, 모델을 감싼 하네스가 결과를 결정한다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709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· 스킬 · 오케스트레이터로 RTL 개발 환경을 표준화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교육용 예시 · 비용/효과 수치는 조직별 재산정 필요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지금 하네스인가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전문성이 파일로 고정되지 않아 매번 재현되지 않는다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02736" cy="2148840"/>
          </a:xfrm>
          <a:prstGeom prst="roundRect">
            <a:avLst>
              <a:gd name="adj" fmla="val 340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892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96596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조사·사양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651760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데이터시트·UG를 개인이 산발 조사, 근거가 남지 않음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07408" y="1691640"/>
            <a:ext cx="3602736" cy="2148840"/>
          </a:xfrm>
          <a:prstGeom prst="roundRect">
            <a:avLst>
              <a:gd name="adj" fmla="val 340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08576" y="1892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📐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276088" y="196596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설계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651760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마이크로아키텍처 결정의 대안·근거가 문서화되지 않음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66176" y="1691640"/>
            <a:ext cx="3602736" cy="2148840"/>
          </a:xfrm>
          <a:prstGeom prst="roundRect">
            <a:avLst>
              <a:gd name="adj" fmla="val 340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67344" y="1892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9134856" y="196596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구현(RTL)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522208" y="2651760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코딩·리셋·CDC 규칙이 사람마다 달라 린트 위반 반복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096512"/>
            <a:ext cx="3602736" cy="2148840"/>
          </a:xfrm>
          <a:prstGeom prst="roundRect">
            <a:avLst>
              <a:gd name="adj" fmla="val 340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49808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🧪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370832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검증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5056632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TB·커버리지 작성 병목, 리그레션 실패 분류에 시간 소모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407408" y="4096512"/>
            <a:ext cx="3602736" cy="2148840"/>
          </a:xfrm>
          <a:prstGeom prst="roundRect">
            <a:avLst>
              <a:gd name="adj" fmla="val 340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608576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⏱️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5276088" y="4370832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타이밍/제약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5056632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XDC·타이밍 클로저가 후반부에 몰려 재작업 발생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266176" y="4096512"/>
            <a:ext cx="3602736" cy="2148840"/>
          </a:xfrm>
          <a:prstGeom prst="roundRect">
            <a:avLst>
              <a:gd name="adj" fmla="val 340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467344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4370832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지식 전수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522208" y="5056632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시니어 의존도가 높고 온보딩이 오래 걸림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 개요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작업 환경 자체를 전문 에이전트 팀으로 표준화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02736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3602736" cy="128016"/>
          </a:xfrm>
          <a:prstGeom prst="roundRect">
            <a:avLst>
              <a:gd name="adj" fmla="val 42857"/>
            </a:avLst>
          </a:prstGeom>
          <a:solidFill>
            <a:srgbClr val="1FB6A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40280"/>
            <a:ext cx="548640" cy="54864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86000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에이전트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06324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B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.claude/agents/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566160"/>
            <a:ext cx="29626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역할·모델·도구가 고정된 전문 일꾼. 도구 경계로 권한을 물리적으로 제한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407408" y="1828800"/>
            <a:ext cx="3602736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07408" y="1828800"/>
            <a:ext cx="3602736" cy="128016"/>
          </a:xfrm>
          <a:prstGeom prst="roundRect">
            <a:avLst>
              <a:gd name="adj" fmla="val 42857"/>
            </a:avLst>
          </a:prstGeom>
          <a:solidFill>
            <a:srgbClr val="F2A9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727448" y="2240280"/>
            <a:ext cx="548640" cy="54864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27448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413248" y="2286000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스킬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306324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727448" y="3566160"/>
            <a:ext cx="29626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자연어로 호출되는 재사용 워크플로. 생성-검증·리뷰 절차를 담음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266176" y="1828800"/>
            <a:ext cx="3602736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66176" y="1828800"/>
            <a:ext cx="3602736" cy="128016"/>
          </a:xfrm>
          <a:prstGeom prst="roundRect">
            <a:avLst>
              <a:gd name="adj" fmla="val 42857"/>
            </a:avLst>
          </a:prstGeom>
          <a:solidFill>
            <a:srgbClr val="153B66"/>
          </a:solidFill>
          <a:ln/>
        </p:spPr>
      </p:sp>
      <p:sp>
        <p:nvSpPr>
          <p:cNvPr id="20" name="Shape 18"/>
          <p:cNvSpPr/>
          <p:nvPr/>
        </p:nvSpPr>
        <p:spPr>
          <a:xfrm>
            <a:off x="8586216" y="2240280"/>
            <a:ext cx="548640" cy="548640"/>
          </a:xfrm>
          <a:prstGeom prst="ellipse">
            <a:avLst/>
          </a:prstGeom>
          <a:solidFill>
            <a:srgbClr val="153B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586216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272016" y="2286000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오케스트레이터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8586216" y="306324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586216" y="3566160"/>
            <a:ext cx="29626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팀을 만들고 작업을 배치·통합. 규칙과 흐름의 포인터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 도메인 지식은 references/ 로 분기(라우터), 하네스는 EDA 툴을 대체하지 않고 오케스트레이션한다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 하네스 구성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전문 에이전트 8종 — 도구 경계로 역할을 고정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206240"/>
                <a:gridCol w="1371600"/>
                <a:gridCol w="26517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에이전트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역할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모델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도구 경계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24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spec-researcher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요구·제약 조사·정제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읽기 전용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24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microarch-designer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CSR·FSM·CDC 설계 + ADR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Read/Write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24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rtl-coder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SystemVerilog 구현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A6E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Write/Edit/Bash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24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testbench-engineer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TB·커버리지·리그레션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A6E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Write/Edit/Bash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24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lint-checker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린트·합성성 (무수정)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A6E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Read/Bash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24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cdc-analyst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aclk↔WRCK CDC (무수정)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Read/Bash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24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timing-constraints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XDC·STA 해석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Read/Write/Bash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24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rca-debugger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실패 근본원인 1차 분류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Read/Bash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72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검증자(lint·cdc)는 Write 미부여 → 판정만, 수정은 rtl-coder가 반영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 패턴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6가지 팀 패턴을 RTL 흐름에 매핑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02736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93392"/>
            <a:ext cx="457200" cy="45720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75104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파이프라인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87168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사양→설계→RTL→검증→합성 순차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07408" y="1737360"/>
            <a:ext cx="3602736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993392"/>
            <a:ext cx="457200" cy="45720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230368" y="1975104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팬아웃·팬인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2487168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린트+CDC+타이밍+검증 병렬 → 통합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66176" y="1737360"/>
            <a:ext cx="3602736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22208" y="1993392"/>
            <a:ext cx="457200" cy="45720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22208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089136" y="1975104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전문가 풀(라우터)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540496" y="2487168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유형별 전문 에이전트 분기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410712"/>
            <a:ext cx="3602736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3666744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3648456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생성-검증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16052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생성 ↔ 시뮬/린트 (재시도 상한)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407408" y="3410712"/>
            <a:ext cx="3602736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666744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6344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230368" y="3648456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감독자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681728" y="416052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리그레션 실패를 런타임 분류·배분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266176" y="3410712"/>
            <a:ext cx="3602736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22208" y="3666744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22208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089136" y="3648456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계층적 위임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540496" y="416052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 → 서브모듈 → 리프 위임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구축 후 개발 흐름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요구 정의 → 모니터링, 재현 가능한 파이프라인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377440"/>
            <a:ext cx="1316736" cy="1417320"/>
          </a:xfrm>
          <a:prstGeom prst="roundRect">
            <a:avLst>
              <a:gd name="adj" fmla="val 5556"/>
            </a:avLst>
          </a:prstGeom>
          <a:solidFill>
            <a:srgbClr val="1C4E80"/>
          </a:solidFill>
          <a:ln/>
        </p:spPr>
      </p:sp>
      <p:sp>
        <p:nvSpPr>
          <p:cNvPr id="5" name="Shape 3"/>
          <p:cNvSpPr/>
          <p:nvPr/>
        </p:nvSpPr>
        <p:spPr>
          <a:xfrm>
            <a:off x="905256" y="2560320"/>
            <a:ext cx="512064" cy="512064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05256" y="2560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27248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요구 정의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438144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수용기준·ID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801368" y="283464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B6A6"/>
                </a:solidFill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920240" y="2377440"/>
            <a:ext cx="1316736" cy="1417320"/>
          </a:xfrm>
          <a:prstGeom prst="roundRect">
            <a:avLst>
              <a:gd name="adj" fmla="val 5556"/>
            </a:avLst>
          </a:prstGeom>
          <a:solidFill>
            <a:srgbClr val="153B66"/>
          </a:solidFill>
          <a:ln/>
        </p:spPr>
      </p:sp>
      <p:sp>
        <p:nvSpPr>
          <p:cNvPr id="11" name="Shape 9"/>
          <p:cNvSpPr/>
          <p:nvPr/>
        </p:nvSpPr>
        <p:spPr>
          <a:xfrm>
            <a:off x="2322576" y="2560320"/>
            <a:ext cx="512064" cy="512064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322576" y="2560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3127248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조사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965960" y="3438144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device-refs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218688" y="283464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B6A6"/>
                </a:solidFill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337560" y="2377440"/>
            <a:ext cx="1316736" cy="1417320"/>
          </a:xfrm>
          <a:prstGeom prst="roundRect">
            <a:avLst>
              <a:gd name="adj" fmla="val 5556"/>
            </a:avLst>
          </a:prstGeom>
          <a:solidFill>
            <a:srgbClr val="1C4E80"/>
          </a:solidFill>
          <a:ln/>
        </p:spPr>
      </p:sp>
      <p:sp>
        <p:nvSpPr>
          <p:cNvPr id="17" name="Shape 15"/>
          <p:cNvSpPr/>
          <p:nvPr/>
        </p:nvSpPr>
        <p:spPr>
          <a:xfrm>
            <a:off x="3739896" y="2560320"/>
            <a:ext cx="512064" cy="512064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739896" y="2560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3127248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설계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3438144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636008" y="283464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B6A6"/>
                </a:solidFill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754880" y="2377440"/>
            <a:ext cx="1316736" cy="1417320"/>
          </a:xfrm>
          <a:prstGeom prst="roundRect">
            <a:avLst>
              <a:gd name="adj" fmla="val 5556"/>
            </a:avLst>
          </a:prstGeom>
          <a:solidFill>
            <a:srgbClr val="153B66"/>
          </a:solidFill>
          <a:ln/>
        </p:spPr>
      </p:sp>
      <p:sp>
        <p:nvSpPr>
          <p:cNvPr id="23" name="Shape 21"/>
          <p:cNvSpPr/>
          <p:nvPr/>
        </p:nvSpPr>
        <p:spPr>
          <a:xfrm>
            <a:off x="5157216" y="2560320"/>
            <a:ext cx="512064" cy="512064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157216" y="2560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4800600" y="3127248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구현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4800600" y="3438144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생성-검증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053328" y="283464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B6A6"/>
                </a:solidFill>
              </a:rPr>
              <a:t>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172200" y="2377440"/>
            <a:ext cx="1316736" cy="1417320"/>
          </a:xfrm>
          <a:prstGeom prst="roundRect">
            <a:avLst>
              <a:gd name="adj" fmla="val 5556"/>
            </a:avLst>
          </a:prstGeom>
          <a:solidFill>
            <a:srgbClr val="1C4E80"/>
          </a:solidFill>
          <a:ln/>
        </p:spPr>
      </p:sp>
      <p:sp>
        <p:nvSpPr>
          <p:cNvPr id="29" name="Shape 27"/>
          <p:cNvSpPr/>
          <p:nvPr/>
        </p:nvSpPr>
        <p:spPr>
          <a:xfrm>
            <a:off x="6574536" y="2560320"/>
            <a:ext cx="512064" cy="512064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74536" y="2560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6217920" y="3127248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검증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438144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TB·커버리지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7470648" y="283464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B6A6"/>
                </a:solidFill>
              </a:rPr>
              <a:t>›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7589520" y="2377440"/>
            <a:ext cx="1316736" cy="1417320"/>
          </a:xfrm>
          <a:prstGeom prst="roundRect">
            <a:avLst>
              <a:gd name="adj" fmla="val 5556"/>
            </a:avLst>
          </a:prstGeom>
          <a:solidFill>
            <a:srgbClr val="153B66"/>
          </a:solidFill>
          <a:ln/>
        </p:spPr>
      </p:sp>
      <p:sp>
        <p:nvSpPr>
          <p:cNvPr id="35" name="Shape 33"/>
          <p:cNvSpPr/>
          <p:nvPr/>
        </p:nvSpPr>
        <p:spPr>
          <a:xfrm>
            <a:off x="7991856" y="2560320"/>
            <a:ext cx="512064" cy="51206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991856" y="2560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7635240" y="3127248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리뷰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7635240" y="3438144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병렬 4관점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8887968" y="283464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B6A6"/>
                </a:solidFill>
              </a:rPr>
              <a:t>›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9006840" y="2377440"/>
            <a:ext cx="1316736" cy="1417320"/>
          </a:xfrm>
          <a:prstGeom prst="roundRect">
            <a:avLst>
              <a:gd name="adj" fmla="val 5556"/>
            </a:avLst>
          </a:prstGeom>
          <a:solidFill>
            <a:srgbClr val="1C4E80"/>
          </a:solidFill>
          <a:ln/>
        </p:spPr>
      </p:sp>
      <p:sp>
        <p:nvSpPr>
          <p:cNvPr id="41" name="Shape 39"/>
          <p:cNvSpPr/>
          <p:nvPr/>
        </p:nvSpPr>
        <p:spPr>
          <a:xfrm>
            <a:off x="9409176" y="2560320"/>
            <a:ext cx="512064" cy="51206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409176" y="2560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700" dirty="0"/>
          </a:p>
        </p:txBody>
      </p:sp>
      <p:sp>
        <p:nvSpPr>
          <p:cNvPr id="43" name="Text 41"/>
          <p:cNvSpPr txBox="1"/>
          <p:nvPr/>
        </p:nvSpPr>
        <p:spPr>
          <a:xfrm>
            <a:off x="9052560" y="3127248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배포</a:t>
            </a:r>
            <a:endParaRPr lang="en-US" sz="1350" dirty="0"/>
          </a:p>
        </p:txBody>
      </p:sp>
      <p:sp>
        <p:nvSpPr>
          <p:cNvPr id="44" name="Text 42"/>
          <p:cNvSpPr txBox="1"/>
          <p:nvPr/>
        </p:nvSpPr>
        <p:spPr>
          <a:xfrm>
            <a:off x="9052560" y="3438144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합성·사인오프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10305288" y="283464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B6A6"/>
                </a:solidFill>
              </a:rPr>
              <a:t>›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10424160" y="2377440"/>
            <a:ext cx="1316736" cy="1417320"/>
          </a:xfrm>
          <a:prstGeom prst="roundRect">
            <a:avLst>
              <a:gd name="adj" fmla="val 5556"/>
            </a:avLst>
          </a:prstGeom>
          <a:solidFill>
            <a:srgbClr val="153B66"/>
          </a:solidFill>
          <a:ln/>
        </p:spPr>
      </p:sp>
      <p:sp>
        <p:nvSpPr>
          <p:cNvPr id="47" name="Shape 45"/>
          <p:cNvSpPr/>
          <p:nvPr/>
        </p:nvSpPr>
        <p:spPr>
          <a:xfrm>
            <a:off x="10826496" y="2560320"/>
            <a:ext cx="512064" cy="51206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10826496" y="2560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700" dirty="0"/>
          </a:p>
        </p:txBody>
      </p:sp>
      <p:sp>
        <p:nvSpPr>
          <p:cNvPr id="49" name="Text 47"/>
          <p:cNvSpPr txBox="1"/>
          <p:nvPr/>
        </p:nvSpPr>
        <p:spPr>
          <a:xfrm>
            <a:off x="10469880" y="3127248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모니터링</a:t>
            </a:r>
            <a:endParaRPr lang="en-US" sz="1350" dirty="0"/>
          </a:p>
        </p:txBody>
      </p:sp>
      <p:sp>
        <p:nvSpPr>
          <p:cNvPr id="50" name="Text 48"/>
          <p:cNvSpPr txBox="1"/>
          <p:nvPr/>
        </p:nvSpPr>
        <p:spPr>
          <a:xfrm>
            <a:off x="10469880" y="3438144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추세·RCA 환류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548640" y="4297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3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불변 원칙: 최종 기능/타이밍 사인오프와 하드웨어 배포 승인은 사람이 담당한다</a:t>
            </a:r>
            <a:endParaRPr lang="en-US" sz="160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검증자 무수정 · 자동 커밋/릴리스 금지 · 재시도 상한(3) 후 사람 에스컬레이션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구축 비용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추가 비용은 저작(1회성) + 토큰(운영)에 국한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02736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1회성 · 구축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파일럿 12주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29000"/>
            <a:ext cx="2962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시니어 RTL/검증 + AI 하네스 엔지니어 ≈ 1.5 FTE·분기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10 + 스킬 6 + references 초안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07408" y="1828800"/>
            <a:ext cx="3602736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727448" y="214884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운영 · 토큰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727448" y="269748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 API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727448" y="3429000"/>
            <a:ext cx="2962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설계·검토 opus / 구현·실행 sonnet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Disclosure·mock 우선으로 절감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66176" y="1828800"/>
            <a:ext cx="3602736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586216" y="214884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기존 자산 재활용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586216" y="269748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추가비용 최소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586216" y="3429000"/>
            <a:ext cx="2962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라이선스·컴퓨팅은 기존 지출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하네스는 툴을 호출만 함 · 오픈소스 병행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수치는 가정 기반 예시(illustrative) — 인건비 단가·EDA 보유·클라우드 정책에 따라 재산정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구축 효과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With/Without A/B로 측정 — 목표치는 파일럿에서 확정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1488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리드타임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9260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사양→린트 통과 초안까지 시간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178308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576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21488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린트/CDC 위반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85032" y="29260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KLOC당 위반 밀도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78308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379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21488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실패 분류 시간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29260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리그레션 실패→원인 후보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89720" y="178308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4183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8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0" y="21488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리뷰 커버리지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445752" y="29260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변경당 점검 관점 수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977640"/>
            <a:ext cx="402336" cy="402336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95935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재현성  </a:t>
            </a:r>
            <a:pPr indent="0" marL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조사·설계 근거·검증 절차가 파일로 남아 감사·재사용 가능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40080" y="4727448"/>
            <a:ext cx="402336" cy="402336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4727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47091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일관성  </a:t>
            </a:r>
            <a:pPr indent="0" marL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코딩·리셋·CDC 규칙을 스킬로 고정 → 반복 위반 감소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40080" y="5477256"/>
            <a:ext cx="402336" cy="402336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" y="5477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545896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 코드화  </a:t>
            </a:r>
            <a:pPr indent="0" marL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시니어 판단 기준을 실행 가능한 규칙으로 이전 → 온보딩 단축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인력·조직 변화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대체가 아니라 재배치 — 반복은 하네스, 판단은 사람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역할의 이동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설계자 · 반복 코딩 ↓ → 아키텍처·리뷰·규칙 저작 ↑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1012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엔지니어 · TB 뼈대 ↓ → 전략·커버리지 클로저 ↑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68496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시니어/리드 · 개별 지시 ↓ → 하네스 관리·지식 코드화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626864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주니어 · 하네스 가드레일 안에서 온보딩 가속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182880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0B2447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46520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신설·강화 역할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46520" y="2697480"/>
            <a:ext cx="457200" cy="45720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6791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하네스 스튜어드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308152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에이전트·스킬·규칙 관리 및 하네스 진화(Phase 0 감사·운영 루프)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46520" y="3749040"/>
            <a:ext cx="457200" cy="45720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465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37307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AI/EDA 통합 담당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413308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툴 배치·CI 연동·토큰 비용 관리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4892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 활성 에이전트 3~5명 권장 · 하네스도 버전관리·리뷰 대상(drift 방지)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로드맵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저위험 단계적 도입 — 파일럿 약 12주 후 확산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75104"/>
            <a:ext cx="548640" cy="54864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75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202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준비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192024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2주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192024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배치·보안 점검, 파일럿 IP 선정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798064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E6EC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944368"/>
            <a:ext cx="548640" cy="54864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2944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88950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하네스 골격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2889504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3주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2889504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메타스킬 초안 → 에이전트·스킬 정제(mock)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767328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913632"/>
            <a:ext cx="548640" cy="54864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85876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실행 스킬 연동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297680" y="385876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3주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3858768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run-lint/sim/synth live, references 작성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73659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E6EC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4882896"/>
            <a:ext cx="548640" cy="54864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4882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82803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파일럿 A/B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4297680" y="482803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3주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0" y="4828032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With/Without 실측, KPI 리포트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5705856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7240" y="5852160"/>
            <a:ext cx="548640" cy="54864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5852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554480" y="579729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정착·확산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4297680" y="579729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1주+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0" y="5797296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확정, 스튜어드 지정, 온보딩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파일럿 대상 IP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AXI4-Lite로 제어되는 IEEE 1500 HBM PMBIST 컨트롤러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3108960" cy="1554480"/>
          </a:xfrm>
          <a:prstGeom prst="roundRect">
            <a:avLst>
              <a:gd name="adj" fmla="val 5882"/>
            </a:avLst>
          </a:prstGeom>
          <a:solidFill>
            <a:srgbClr val="153B6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22199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호스트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346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AXI4-Lite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A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제어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886200" y="24231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B7A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663440" y="1965960"/>
            <a:ext cx="3108960" cy="1554480"/>
          </a:xfrm>
          <a:prstGeom prst="roundRect">
            <a:avLst>
              <a:gd name="adj" fmla="val 5882"/>
            </a:avLst>
          </a:prstGeom>
          <a:solidFill>
            <a:srgbClr val="1FB6A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00600" y="222199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IEEE 1500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컨트롤러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8346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WSC · WSI/WSO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A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시퀀스 FSM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24231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B7A"/>
                </a:solidFill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8595360" y="1965960"/>
            <a:ext cx="3108960" cy="1554480"/>
          </a:xfrm>
          <a:prstGeom prst="roundRect">
            <a:avLst>
              <a:gd name="adj" fmla="val 5882"/>
            </a:avLst>
          </a:prstGeom>
          <a:solidFill>
            <a:srgbClr val="F2A9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732520" y="222199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HBM PMBIST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732520" y="28346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채널별 BIST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A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수집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" y="4069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리스크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526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aclk(AXI) ↔ WRCK(테스트) 클록 도메인 크로싱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029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리셋 도메인 · 시퀀스 FSM 정합성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532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AXI4-Lite 프로토콜 준수 · SLVERR 정책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388620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446520" y="4069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제공한 하네스 골격 (doc/ip/)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45262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8종 + 스킬 5종 + device-refs 라우터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94690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요구정의(REQ-*)·수용기준·체크리스트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536752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참조 RTL 스텁 + 스모크 TB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578815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run-lint/sim: mock + Verilator/xsim live 연동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8308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툴 체인이 스크립트 친화적이고 검증이 반복적인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RTL은 하네스 효과가 가장 큰 도메인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3520440"/>
            <a:ext cx="402336" cy="402336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350215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7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검증된 하네스 패턴(생성-검증·팬아웃/팬인·라우터·메타스킬)을 RTL에 매핑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85800" y="4178808"/>
            <a:ext cx="402336" cy="402336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4178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41605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7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EDA·컴퓨팅은 기존 자산 재활용 → 추가비용은 저작(1회성)+토큰(운영)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85800" y="4837176"/>
            <a:ext cx="402336" cy="402336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4837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818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7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파일럿 A/B로 효과를 정량 검증한 뒤 확산하는 저위험 단계적 도입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3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다음 단계 — 파일럿 IP 골격(doc/ip/)으로 12주 파일럿 착수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2026-08-30T06:48:32Z</dcterms:created>
  <dcterms:modified xsi:type="dcterms:W3CDTF">2026-08-30T06:48:32Z</dcterms:modified>
</cp:coreProperties>
</file>